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À l'heure</c:v>
                </c:pt>
              </c:strCache>
            </c:strRef>
          </c:tx>
          <c:spPr>
            <a:solidFill>
              <a:srgbClr val="2E8B6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F29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Note moyenne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4.3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 retard</c:v>
                </c:pt>
              </c:strCache>
            </c:strRef>
          </c:tx>
          <c:spPr>
            <a:solidFill>
              <a:srgbClr val="C0532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F29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Note moyenne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2.3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300" u="none">
                  <a:solidFill>
                    <a:srgbClr val="1F29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b"/>
        <c:majorGridlines>
          <c:spPr>
            <a:ln w="6350" cap="flat">
              <a:solidFill>
                <a:srgbClr val="E5E0D5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933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A38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A38"/>
                </a:solidFill>
                <a:latin typeface="Arial"/>
              </a:rPr>
              <a:t>Délai moyen par état (8 états les plus touchés, en jours)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Délai moyen (jours)</c:v>
                </c:pt>
              </c:strCache>
            </c:strRef>
          </c:tx>
          <c:spPr>
            <a:solidFill>
              <a:srgbClr val="C0532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RR</c:v>
                  </c:pt>
                  <c:pt idx="1">
                    <c:v>AP</c:v>
                  </c:pt>
                  <c:pt idx="2">
                    <c:v>AM</c:v>
                  </c:pt>
                  <c:pt idx="3">
                    <c:v>AL</c:v>
                  </c:pt>
                  <c:pt idx="4">
                    <c:v>PA</c:v>
                  </c:pt>
                  <c:pt idx="5">
                    <c:v>MA</c:v>
                  </c:pt>
                  <c:pt idx="6">
                    <c:v>SE</c:v>
                  </c:pt>
                  <c:pt idx="7">
                    <c:v>CE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28.98</c:v>
                </c:pt>
                <c:pt idx="1">
                  <c:v>26.73</c:v>
                </c:pt>
                <c:pt idx="2">
                  <c:v>25.99</c:v>
                </c:pt>
                <c:pt idx="3">
                  <c:v>24.04</c:v>
                </c:pt>
                <c:pt idx="4">
                  <c:v>23.32</c:v>
                </c:pt>
                <c:pt idx="5">
                  <c:v>21.12</c:v>
                </c:pt>
                <c:pt idx="6">
                  <c:v>21.03</c:v>
                </c:pt>
                <c:pt idx="7">
                  <c:v>20.82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F29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0D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A38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A38"/>
                </a:solidFill>
                <a:latin typeface="Arial"/>
              </a:rPr>
              <a:t>Top 6 catégories les plus lentes à livrer (jours)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Délai moyen (jours)</c:v>
                </c:pt>
              </c:strCache>
            </c:strRef>
          </c:tx>
          <c:spPr>
            <a:solidFill>
              <a:srgbClr val="0E7C7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office_furniture</c:v>
                  </c:pt>
                  <c:pt idx="1">
                    <c:v>fashion_sport</c:v>
                  </c:pt>
                  <c:pt idx="2">
                    <c:v>security_and_services</c:v>
                  </c:pt>
                  <c:pt idx="3">
                    <c:v>christmas_supplies</c:v>
                  </c:pt>
                  <c:pt idx="4">
                    <c:v>home_comfort_2</c:v>
                  </c:pt>
                  <c:pt idx="5">
                    <c:v>furniture_mattress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19.8</c:v>
                </c:pt>
                <c:pt idx="1">
                  <c:v>18.6</c:v>
                </c:pt>
                <c:pt idx="2">
                  <c:v>17.9</c:v>
                </c:pt>
                <c:pt idx="3">
                  <c:v>17.3</c:v>
                </c:pt>
                <c:pt idx="4">
                  <c:v>16.5</c:v>
                </c:pt>
                <c:pt idx="5">
                  <c:v>16.1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F29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F29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0D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6-1.png"/><Relationship Id="rId3" Type="http://schemas.openxmlformats.org/officeDocument/2006/relationships/image" Target="../media/image-6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120640" cy="5120640"/>
          </a:xfrm>
          <a:prstGeom prst="ellipse">
            <a:avLst/>
          </a:prstGeom>
          <a:solidFill>
            <a:srgbClr val="24384A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548640"/>
            <a:ext cx="3291840" cy="329184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930" y="103693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286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C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 DATA ANALYSIS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2651760"/>
            <a:ext cx="9601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des retards de livraison et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optimisation de la satisfaction client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822960" y="4434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8FC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Olist — Brazilian E-Commerce Public Dataset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Mansouratou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6263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C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Juin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problème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212080" cy="4754880"/>
          </a:xfrm>
          <a:prstGeom prst="roundRect">
            <a:avLst>
              <a:gd name="adj" fmla="val 1538"/>
            </a:avLst>
          </a:prstGeom>
          <a:solidFill>
            <a:srgbClr val="F4F1EC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05840" y="1737360"/>
            <a:ext cx="640080" cy="640080"/>
          </a:xfrm>
          <a:prstGeom prst="ellipse">
            <a:avLst/>
          </a:prstGeom>
          <a:solidFill>
            <a:srgbClr val="C0532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2261" y="1903781"/>
            <a:ext cx="307238" cy="3072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17830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plateforme e-commerce en perte de satisfaction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05840" y="2606040"/>
            <a:ext cx="4480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retours clients identifient les </a:t>
            </a:r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C0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retards de livraison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comme la cause principale de désabonnement et de dégradation de l'image de marque.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005840" y="3977640"/>
            <a:ext cx="4480560" cy="0"/>
          </a:xfrm>
          <a:prstGeom prst="line">
            <a:avLst/>
          </a:prstGeom>
          <a:noFill/>
          <a:ln w="12700">
            <a:solidFill>
              <a:srgbClr val="DDD6C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05840" y="41605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question centrale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05840" y="4526280"/>
            <a:ext cx="4480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Comment identifier les maillons faibles du transport — région, transporteur, catégorie de produit — pour réduire les délais et améliorer la satisfaction ?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126480" y="1371600"/>
            <a:ext cx="5440680" cy="4754880"/>
          </a:xfrm>
          <a:prstGeom prst="roundRect">
            <a:avLst>
              <a:gd name="adj" fmla="val 1538"/>
            </a:avLst>
          </a:prstGeom>
          <a:solidFill>
            <a:srgbClr val="1E2A38"/>
          </a:solidFill>
          <a:ln/>
        </p:spPr>
      </p:sp>
      <p:sp>
        <p:nvSpPr>
          <p:cNvPr id="12" name="Shape 9"/>
          <p:cNvSpPr/>
          <p:nvPr/>
        </p:nvSpPr>
        <p:spPr>
          <a:xfrm>
            <a:off x="6492240" y="1737360"/>
            <a:ext cx="640080" cy="64008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8661" y="190378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15200" y="178308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du projet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492240" y="26060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Concevoir un pipeline d'analyse de bout en bout pour monitorer les délais réels par rapport aux promesses clients, via un tableau de bord interactif.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6492240" y="3977640"/>
            <a:ext cx="4754880" cy="0"/>
          </a:xfrm>
          <a:prstGeom prst="line">
            <a:avLst/>
          </a:prstGeom>
          <a:noFill/>
          <a:ln w="12700">
            <a:solidFill>
              <a:srgbClr val="3A4A5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492240" y="420624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Calculer les KPI : délai moyen, taux de retard, écart à l'estimation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les corrélations entre fret, poids et rapidité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Construire un modèle Power BI en schéma en étoile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Fournir des recommandations stratégiques actionnables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Données et méthodologie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291840" cy="1417320"/>
          </a:xfrm>
          <a:prstGeom prst="roundRect">
            <a:avLst>
              <a:gd name="adj" fmla="val 5161"/>
            </a:avLst>
          </a:prstGeom>
          <a:solidFill>
            <a:srgbClr val="F4F1EC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46304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68680" y="224028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CSV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251960" y="1371600"/>
            <a:ext cx="3291840" cy="1417320"/>
          </a:xfrm>
          <a:prstGeom prst="roundRect">
            <a:avLst>
              <a:gd name="adj" fmla="val 5161"/>
            </a:avLst>
          </a:prstGeom>
          <a:solidFill>
            <a:srgbClr val="F4F1EC"/>
          </a:solidFill>
          <a:ln/>
        </p:spPr>
      </p:sp>
      <p:sp>
        <p:nvSpPr>
          <p:cNvPr id="7" name="Text 5"/>
          <p:cNvSpPr/>
          <p:nvPr/>
        </p:nvSpPr>
        <p:spPr>
          <a:xfrm>
            <a:off x="4480560" y="146304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97K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480560" y="224028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analysées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863840" y="1371600"/>
            <a:ext cx="3291840" cy="1417320"/>
          </a:xfrm>
          <a:prstGeom prst="roundRect">
            <a:avLst>
              <a:gd name="adj" fmla="val 5161"/>
            </a:avLst>
          </a:prstGeom>
          <a:solidFill>
            <a:srgbClr val="F4F1EC"/>
          </a:solidFill>
          <a:ln/>
        </p:spPr>
      </p:sp>
      <p:sp>
        <p:nvSpPr>
          <p:cNvPr id="10" name="Text 8"/>
          <p:cNvSpPr/>
          <p:nvPr/>
        </p:nvSpPr>
        <p:spPr>
          <a:xfrm>
            <a:off x="8092440" y="146304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2016–18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8092440" y="224028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période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couverte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9718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Brazilian E-Commerce Public Dataset by Olist (Kaggle) — orders, order_items, products, customers, geolocation, reviews, sellers, payments.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611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en 4 étapes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06908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5E0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251960"/>
            <a:ext cx="411480" cy="41148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251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7548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512064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des valeurs manquantes, doublons, outliers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74720" y="406908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5E0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0" y="4251960"/>
            <a:ext cx="411480" cy="41148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0" y="4251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657600" y="47548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0" y="512064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des types, traitement des nulles, jointures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09360" y="406908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5E0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92240" y="4251960"/>
            <a:ext cx="411480" cy="41148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6" name="Text 24"/>
          <p:cNvSpPr/>
          <p:nvPr/>
        </p:nvSpPr>
        <p:spPr>
          <a:xfrm>
            <a:off x="6492240" y="4251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92240" y="47548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ETL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92240" y="512064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 des délais et indicateurs, export du dataset final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144000" y="406908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5E0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326880" y="4251960"/>
            <a:ext cx="411480" cy="41148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31" name="Text 29"/>
          <p:cNvSpPr/>
          <p:nvPr/>
        </p:nvSpPr>
        <p:spPr>
          <a:xfrm>
            <a:off x="9326880" y="4251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326880" y="47548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326880" y="512064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en étoile, mesures DAX, tableau de bord interactif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Résultats — vue d'ensemble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1993392" cy="1737360"/>
          </a:xfrm>
          <a:prstGeom prst="roundRect">
            <a:avLst>
              <a:gd name="adj" fmla="val 4211"/>
            </a:avLst>
          </a:prstGeom>
          <a:solidFill>
            <a:srgbClr val="F4F1E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49808" y="1627632"/>
            <a:ext cx="1773936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97 007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49808" y="2514600"/>
            <a:ext cx="17739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 livrées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816352" y="1463040"/>
            <a:ext cx="1993392" cy="1737360"/>
          </a:xfrm>
          <a:prstGeom prst="roundRect">
            <a:avLst>
              <a:gd name="adj" fmla="val 4211"/>
            </a:avLst>
          </a:prstGeom>
          <a:solidFill>
            <a:srgbClr val="F4F1E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926080" y="1627632"/>
            <a:ext cx="1773936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12,1 j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926080" y="2514600"/>
            <a:ext cx="17739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Délai moyen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992624" y="1463040"/>
            <a:ext cx="1993392" cy="1737360"/>
          </a:xfrm>
          <a:prstGeom prst="roundRect">
            <a:avLst>
              <a:gd name="adj" fmla="val 4211"/>
            </a:avLst>
          </a:prstGeom>
          <a:solidFill>
            <a:srgbClr val="F4F1E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102352" y="1627632"/>
            <a:ext cx="1773936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05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6,8 %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102352" y="2514600"/>
            <a:ext cx="17739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retard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168896" y="1463040"/>
            <a:ext cx="1993392" cy="1737360"/>
          </a:xfrm>
          <a:prstGeom prst="roundRect">
            <a:avLst>
              <a:gd name="adj" fmla="val 4211"/>
            </a:avLst>
          </a:prstGeom>
          <a:solidFill>
            <a:srgbClr val="F4F1E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278624" y="1627632"/>
            <a:ext cx="1773936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8B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-11,9 j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278624" y="2514600"/>
            <a:ext cx="17739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 moyen à l'estimation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345168" y="1463040"/>
            <a:ext cx="1993392" cy="1737360"/>
          </a:xfrm>
          <a:prstGeom prst="roundRect">
            <a:avLst>
              <a:gd name="adj" fmla="val 4211"/>
            </a:avLst>
          </a:prstGeom>
          <a:solidFill>
            <a:srgbClr val="F4F1E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454896" y="1627632"/>
            <a:ext cx="1773936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05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4,3 / 2,3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454896" y="2514600"/>
            <a:ext cx="17739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: à l'heure / en retard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0080" y="34747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du retard sur la satisfaction client</a:t>
            </a:r>
            <a:endParaRPr lang="en-US" sz="14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640080" y="3840480"/>
          <a:ext cx="585216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Shape 17"/>
          <p:cNvSpPr/>
          <p:nvPr/>
        </p:nvSpPr>
        <p:spPr>
          <a:xfrm>
            <a:off x="6720840" y="3840480"/>
            <a:ext cx="4846320" cy="2651760"/>
          </a:xfrm>
          <a:prstGeom prst="roundRect">
            <a:avLst>
              <a:gd name="adj" fmla="val 2759"/>
            </a:avLst>
          </a:prstGeom>
          <a:solidFill>
            <a:srgbClr val="1E2A38"/>
          </a:solidFill>
          <a:ln/>
        </p:spPr>
      </p:sp>
      <p:sp>
        <p:nvSpPr>
          <p:cNvPr id="21" name="Shape 18"/>
          <p:cNvSpPr/>
          <p:nvPr/>
        </p:nvSpPr>
        <p:spPr>
          <a:xfrm>
            <a:off x="6995160" y="4114800"/>
            <a:ext cx="502920" cy="502920"/>
          </a:xfrm>
          <a:prstGeom prst="ellipse">
            <a:avLst/>
          </a:prstGeom>
          <a:solidFill>
            <a:srgbClr val="C0532A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5919" y="4245559"/>
            <a:ext cx="241402" cy="24140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7635240" y="41148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Près de 2 points d'écart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6995160" y="480060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commandes livrées en retard obtiennent une note de satisfaction nettement inférieure à celles livrées à temps : 2,3 / 5 contre 4,3 / 5.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6995160" y="576072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8FC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respect du délai est le levier n°1 de satisfaction client identifié dans cette analyse.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géographique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698480" y="411480"/>
            <a:ext cx="594360" cy="59436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3014" y="566014"/>
            <a:ext cx="285293" cy="285293"/>
          </a:xfrm>
          <a:prstGeom prst="rect">
            <a:avLst/>
          </a:prstGeom>
        </p:spPr>
      </p:pic>
      <p:graphicFrame>
        <p:nvGraphicFramePr>
          <p:cNvPr id="5" name="Chart 0" descr=""/>
          <p:cNvGraphicFramePr/>
          <p:nvPr/>
        </p:nvGraphicFramePr>
        <p:xfrm>
          <a:off x="640080" y="1371600"/>
          <a:ext cx="66751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7589520" y="1371600"/>
            <a:ext cx="3977640" cy="3931920"/>
          </a:xfrm>
          <a:prstGeom prst="roundRect">
            <a:avLst>
              <a:gd name="adj" fmla="val 1860"/>
            </a:avLst>
          </a:prstGeom>
          <a:solidFill>
            <a:srgbClr val="F4F1EC"/>
          </a:solidFill>
          <a:ln/>
        </p:spPr>
      </p:sp>
      <p:sp>
        <p:nvSpPr>
          <p:cNvPr id="7" name="Text 3"/>
          <p:cNvSpPr/>
          <p:nvPr/>
        </p:nvSpPr>
        <p:spPr>
          <a:xfrm>
            <a:off x="7863840" y="16002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le plus critique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863840" y="187452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Alagoas (AL)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7863840" y="24231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C0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jours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délai moyen et </a:t>
            </a:r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C0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21 %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taux de retard : le pire cumul délai + fréquence.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7863840" y="3429000"/>
            <a:ext cx="3474720" cy="0"/>
          </a:xfrm>
          <a:prstGeom prst="line">
            <a:avLst/>
          </a:prstGeom>
          <a:noFill/>
          <a:ln w="12700">
            <a:solidFill>
              <a:srgbClr val="DDD6C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863840" y="36118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gros volume concerné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7863840" y="38862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Ceará (CE)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7863840" y="43891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1 279 commandes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14 % de retard : priorité par impact global.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640080" y="548640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Régions concentrées dans le Nord et le Nord-Est du Brésil.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produit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698480" y="411480"/>
            <a:ext cx="594360" cy="59436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3014" y="566014"/>
            <a:ext cx="285293" cy="285293"/>
          </a:xfrm>
          <a:prstGeom prst="rect">
            <a:avLst/>
          </a:prstGeom>
        </p:spPr>
      </p:pic>
      <p:graphicFrame>
        <p:nvGraphicFramePr>
          <p:cNvPr id="5" name="Chart 0" descr=""/>
          <p:cNvGraphicFramePr/>
          <p:nvPr/>
        </p:nvGraphicFramePr>
        <p:xfrm>
          <a:off x="640080" y="1371600"/>
          <a:ext cx="667512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7589520" y="1371600"/>
            <a:ext cx="3977640" cy="4023360"/>
          </a:xfrm>
          <a:prstGeom prst="roundRect">
            <a:avLst>
              <a:gd name="adj" fmla="val 1839"/>
            </a:avLst>
          </a:prstGeom>
          <a:solidFill>
            <a:srgbClr val="1E2A38"/>
          </a:solidFill>
          <a:ln/>
        </p:spPr>
      </p:sp>
      <p:sp>
        <p:nvSpPr>
          <p:cNvPr id="7" name="Shape 3"/>
          <p:cNvSpPr/>
          <p:nvPr/>
        </p:nvSpPr>
        <p:spPr>
          <a:xfrm>
            <a:off x="7863840" y="1645920"/>
            <a:ext cx="502920" cy="50292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4599" y="1776679"/>
            <a:ext cx="241402" cy="24140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503920" y="164592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Constat clé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7863840" y="233172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meubles et équipements volumineux affichent des délais sensiblement supérieurs à la moyenne générale (12,1 jours).</a:t>
            </a:r>
            <a:endParaRPr lang="en-US" sz="1300" dirty="0"/>
          </a:p>
        </p:txBody>
      </p:sp>
      <p:sp>
        <p:nvSpPr>
          <p:cNvPr id="11" name="Shape 6"/>
          <p:cNvSpPr/>
          <p:nvPr/>
        </p:nvSpPr>
        <p:spPr>
          <a:xfrm>
            <a:off x="7863840" y="3657600"/>
            <a:ext cx="3474720" cy="0"/>
          </a:xfrm>
          <a:prstGeom prst="line">
            <a:avLst/>
          </a:prstGeom>
          <a:noFill/>
          <a:ln w="12700">
            <a:solidFill>
              <a:srgbClr val="3A4A5C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7863840" y="388620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8FC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relation poids du colis / délai reste modérée : la distance géographique et la disponibilité du transporteur pèsent davantage que les caractéristiques physiques du produit.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Recommandations stratégiques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2120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691640"/>
            <a:ext cx="566928" cy="566928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1801" y="1839041"/>
            <a:ext cx="272125" cy="2721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673352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Renégocier le transport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" y="237744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Prioriser AL, MA, CE et PA : volume significatif combiné à un taux de retard élevé.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172200" y="1417320"/>
            <a:ext cx="52120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46520" y="1691640"/>
            <a:ext cx="566928" cy="566928"/>
          </a:xfrm>
          <a:prstGeom prst="ellipse">
            <a:avLst/>
          </a:prstGeom>
          <a:solidFill>
            <a:srgbClr val="1E2A38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3921" y="1839041"/>
            <a:ext cx="272125" cy="2721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23760" y="1673352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Alertes opérationnelles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446520" y="237744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Notifier automatiquement dès qu'un délai estimé dépasse 20 jours, pour anticiper la communication client.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3794760"/>
            <a:ext cx="52120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14400" y="4069080"/>
            <a:ext cx="566928" cy="566928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801" y="4216481"/>
            <a:ext cx="272125" cy="27212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91640" y="4050792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Entrepôts relais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914400" y="475488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Étudier l'implantation de hubs logistiques dans le Nord-Est pour réduire la distance moyenne de livraison.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172200" y="3794760"/>
            <a:ext cx="52120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446520" y="4069080"/>
            <a:ext cx="566928" cy="566928"/>
          </a:xfrm>
          <a:prstGeom prst="ellipse">
            <a:avLst/>
          </a:prstGeom>
          <a:solidFill>
            <a:srgbClr val="1E2A38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3921" y="4216481"/>
            <a:ext cx="272125" cy="27212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223760" y="4050792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Suivi continu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6446520" y="475488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Surveiller l'indicateur de satisfaction par tranche de délai pour valider l'effet des actions correctives.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840480"/>
            <a:ext cx="5120640" cy="5120640"/>
          </a:xfrm>
          <a:prstGeom prst="ellipse">
            <a:avLst/>
          </a:prstGeom>
          <a:solidFill>
            <a:srgbClr val="24384A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731520"/>
            <a:ext cx="731520" cy="731520"/>
          </a:xfrm>
          <a:prstGeom prst="ellipse">
            <a:avLst/>
          </a:prstGeom>
          <a:solidFill>
            <a:srgbClr val="2E8B6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155" y="921715"/>
            <a:ext cx="351130" cy="3511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6916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822960" y="2331720"/>
            <a:ext cx="7589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E8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retard de livraison est confirmé comme le facteur n°1 de dégradation de la satisfaction client, avec un écart de notation de près de deux points entre commandes à l'heure et en retard.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3611880"/>
            <a:ext cx="7589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E8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disparités régionales identifiées — Nord et Nord-Est du Brésil — offrent des leviers d'action concrets et priorisables pour les équipes logistiques d'Olist.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" y="4892040"/>
            <a:ext cx="7589520" cy="0"/>
          </a:xfrm>
          <a:prstGeom prst="line">
            <a:avLst/>
          </a:prstGeom>
          <a:noFill/>
          <a:ln w="12700">
            <a:solidFill>
              <a:srgbClr val="3A4A5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8FC1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de votre attention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Dépôt GitHub : MANSOURATOU / projet-livraison-olist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Analyse des retards de livraison et optimisation de la satisfaction client</dc:title>
  <dc:subject>PptxGenJS Presentation</dc:subject>
  <dc:creator>Mansouratou</dc:creator>
  <cp:lastModifiedBy>Mansouratou</cp:lastModifiedBy>
  <cp:revision>1</cp:revision>
  <dcterms:created xsi:type="dcterms:W3CDTF">2026-06-19T08:27:35Z</dcterms:created>
  <dcterms:modified xsi:type="dcterms:W3CDTF">2026-06-19T08:27:35Z</dcterms:modified>
</cp:coreProperties>
</file>